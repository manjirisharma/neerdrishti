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faculty members. Today, I am proud to present 'NeerDrishti' - The Vision of Water. NeerDrishti is an explainable AI and computer-vision powered flood risk prediction system engineered to analyze aerial and satellite imagery in real-time, compute multi-zone risk heatmaps, and provide fully transparent decision metrics for disaster relief authorities.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Flooding remains one of the world's most catastrophic natural hazards. The core engineering problem is twofold: First, standard computer vision models frequently confuse dark asphalt highways and tree canopies with water bodies. Second, most modern AI models act as black boxes—they output an arbitrary danger score without explaining the rationale. NeerDrishti solves both gaps by pairing physics-guided color space fusion with an Explainable AI panel.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end-to-end processing pipeline. When an image is fed to NeerDrishti, it undergoes four stages: Stage 1 converts the frame to HSV and CIELAB color spaces. Stage 2 extracts water signatures, including difficult brown muddy floodwaters and vegetation shadows. Stage 3 applies our road suppression filter using Sobel gradients and contour aspect ratios. Stage 4 classifies the terrain into Zones A, B, and C, generating a research-grade multi-scale density heatmap.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engineering side, NeerDrishti is designed as a unified full-stack platform. The backend is built in FastAPI for asynchronous speed, with automated GPU hardware detection. On the frontend, we built an interactive Leaflet GIS dashboard with custom basemaps including Esri Dark Gray and Satellite Imagery. Notice the classification matrix: our system assesses relative flood risk from Minimal to Extreme, and automatically classifies whether the detected body is a river, lake, or ocean.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can see the actual output generated by NeerDrishti during test evaluations. On the left, notice how the algorithm overlays multi-zone color heatmaps: deep red for core water bodies, orange for the buffer danger zone, and cyan for moisture spread. On the right is our Explainable AI panel. Relief workers don't have to guess why a zone is flagged; they receive the exact pixel density, edge confidence, and zone ratios.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NeerDrishti bridges computer vision and real-time hazard analytics. By delivering fast, explainable, and offline-capable flood risk mapping, it provides life-saving insights without needing high-end cloud servers. In the future, we plan to fuse Synthetic Aperture Radar and live river-gauge telemetry. Thank you for your time, and we now welcome any questions and feedback from the faculty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137160" cy="29260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3474720"/>
          </a:xfrm>
          <a:prstGeom prst="rect">
            <a:avLst/>
          </a:prstGeom>
          <a:noFill/>
        </p:spPr>
        <p:txBody>
          <a:bodyPr wrap="square">
            <a:spAutoFit/>
          </a:bodyPr>
          <a:lstStyle/>
          <a:p>
            <a:pPr>
              <a:spcAft>
                <a:spcPts val="1400"/>
              </a:spcAft>
              <a:defRPr sz="1300" b="1">
                <a:solidFill>
                  <a:srgbClr val="38BDF8"/>
                </a:solidFill>
                <a:latin typeface="Segoe UI"/>
              </a:defRPr>
            </a:pPr>
            <a:r>
              <a:t>COLLEGE CAPSTONE PROJECT PRESENTATION</a:t>
            </a:r>
          </a:p>
          <a:p>
            <a:pPr>
              <a:spcAft>
                <a:spcPts val="400"/>
              </a:spcAft>
              <a:defRPr sz="4000" b="1">
                <a:solidFill>
                  <a:srgbClr val="F8FAFC"/>
                </a:solidFill>
                <a:latin typeface="Segoe UI"/>
              </a:defRPr>
            </a:pPr>
            <a:r>
              <a:t>NeerDrishti (नीरदृष्टि)</a:t>
            </a:r>
          </a:p>
          <a:p>
            <a:pPr>
              <a:spcAft>
                <a:spcPts val="2400"/>
              </a:spcAft>
              <a:defRPr sz="2000">
                <a:solidFill>
                  <a:srgbClr val="7DD3FC"/>
                </a:solidFill>
                <a:latin typeface="Segoe UI"/>
              </a:defRPr>
            </a:pPr>
            <a:r>
              <a:t>GPU-Accelerated, Explainable Flood Risk Assessment &amp; Water Body Analytics</a:t>
            </a:r>
          </a:p>
          <a:p>
            <a:pPr>
              <a:defRPr sz="1300">
                <a:solidFill>
                  <a:srgbClr val="94A3B8"/>
                </a:solidFill>
                <a:latin typeface="Segoe UI"/>
              </a:defRPr>
            </a:pPr>
            <a:r>
              <a:t>Combining Cartographic Analysis, Multi-Spectrum Computer Vision &amp; Interactive Web GIS</a:t>
            </a:r>
          </a:p>
        </p:txBody>
      </p:sp>
      <p:sp>
        <p:nvSpPr>
          <p:cNvPr id="5" name="Rounded Rectangle 4"/>
          <p:cNvSpPr/>
          <p:nvPr/>
        </p:nvSpPr>
        <p:spPr>
          <a:xfrm>
            <a:off x="1097280" y="5120640"/>
            <a:ext cx="98755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212080"/>
            <a:ext cx="9509760" cy="914400"/>
          </a:xfrm>
          <a:prstGeom prst="rect">
            <a:avLst/>
          </a:prstGeom>
          <a:noFill/>
        </p:spPr>
        <p:txBody>
          <a:bodyPr wrap="none">
            <a:spAutoFit/>
          </a:bodyPr>
          <a:lstStyle/>
          <a:p>
            <a:pPr>
              <a:defRPr sz="1300" b="1">
                <a:solidFill>
                  <a:srgbClr val="F8FAFC"/>
                </a:solidFill>
                <a:latin typeface="Segoe UI"/>
              </a:defRPr>
            </a:pPr>
            <a:r>
              <a:t>Presented by: Student / Project Team   |   Department of Computer Science &amp; Engineering</a:t>
            </a:r>
          </a:p>
          <a:p>
            <a:pPr>
              <a:defRPr sz="1100">
                <a:solidFill>
                  <a:srgbClr val="94A3B8"/>
                </a:solidFill>
                <a:latin typeface="Segoe UI"/>
              </a:defRPr>
            </a:pPr>
            <a:r>
              <a:t>Supervisor: Project Guide / Faculty Mentor   |   Academic Session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latin typeface="Segoe UI"/>
              </a:defRPr>
            </a:pPr>
            <a:r>
              <a:t>01 • THE CHALLENGE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Segoe UI"/>
              </a:defRPr>
            </a:pPr>
            <a:r>
              <a:t>Problem Statement &amp; Practical Motivation</a:t>
            </a:r>
          </a:p>
        </p:txBody>
      </p:sp>
      <p:sp>
        <p:nvSpPr>
          <p:cNvPr id="5" name="Rounded Rectangle 4"/>
          <p:cNvSpPr/>
          <p:nvPr/>
        </p:nvSpPr>
        <p:spPr>
          <a:xfrm>
            <a:off x="731520" y="1737360"/>
            <a:ext cx="3383280" cy="4572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3017520" cy="4206240"/>
          </a:xfrm>
          <a:prstGeom prst="rect">
            <a:avLst/>
          </a:prstGeom>
          <a:noFill/>
        </p:spPr>
        <p:txBody>
          <a:bodyPr wrap="square">
            <a:spAutoFit/>
          </a:bodyPr>
          <a:lstStyle/>
          <a:p>
            <a:pPr>
              <a:spcAft>
                <a:spcPts val="1000"/>
              </a:spcAft>
              <a:defRPr sz="1600" b="1">
                <a:solidFill>
                  <a:srgbClr val="38BDF8"/>
                </a:solidFill>
                <a:latin typeface="Segoe UI"/>
              </a:defRPr>
            </a:pPr>
            <a:r>
              <a:t>1. Recurring Floods</a:t>
            </a:r>
          </a:p>
          <a:p>
            <a:pPr>
              <a:spcAft>
                <a:spcPts val="600"/>
              </a:spcAft>
              <a:defRPr sz="1200">
                <a:solidFill>
                  <a:srgbClr val="CBD5E1"/>
                </a:solidFill>
                <a:latin typeface="Segoe UI"/>
              </a:defRPr>
            </a:pPr>
            <a:r>
              <a:t>•  Urban and riverine flooding creates massive economic destruction and loss of life every year.</a:t>
            </a:r>
          </a:p>
          <a:p>
            <a:pPr>
              <a:spcAft>
                <a:spcPts val="600"/>
              </a:spcAft>
              <a:defRPr sz="1200">
                <a:solidFill>
                  <a:srgbClr val="CBD5E1"/>
                </a:solidFill>
                <a:latin typeface="Segoe UI"/>
              </a:defRPr>
            </a:pPr>
            <a:r>
              <a:t>•  Flash floods in low-drainage areas occur faster than traditional rescue teams can survey.</a:t>
            </a:r>
          </a:p>
          <a:p>
            <a:pPr>
              <a:spcAft>
                <a:spcPts val="600"/>
              </a:spcAft>
              <a:defRPr sz="1200">
                <a:solidFill>
                  <a:srgbClr val="CBD5E1"/>
                </a:solidFill>
                <a:latin typeface="Segoe UI"/>
              </a:defRPr>
            </a:pPr>
            <a:r>
              <a:t>•  Disaster response teams lack instant access to aerial flood boundary mappings.</a:t>
            </a:r>
          </a:p>
        </p:txBody>
      </p:sp>
      <p:sp>
        <p:nvSpPr>
          <p:cNvPr id="7" name="Rounded Rectangle 6"/>
          <p:cNvSpPr/>
          <p:nvPr/>
        </p:nvSpPr>
        <p:spPr>
          <a:xfrm>
            <a:off x="4389120" y="1737360"/>
            <a:ext cx="3383280" cy="4572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17520" cy="4206240"/>
          </a:xfrm>
          <a:prstGeom prst="rect">
            <a:avLst/>
          </a:prstGeom>
          <a:noFill/>
        </p:spPr>
        <p:txBody>
          <a:bodyPr wrap="square">
            <a:spAutoFit/>
          </a:bodyPr>
          <a:lstStyle/>
          <a:p>
            <a:pPr>
              <a:spcAft>
                <a:spcPts val="1000"/>
              </a:spcAft>
              <a:defRPr sz="1600" b="1">
                <a:solidFill>
                  <a:srgbClr val="38BDF8"/>
                </a:solidFill>
                <a:latin typeface="Segoe UI"/>
              </a:defRPr>
            </a:pPr>
            <a:r>
              <a:t>2. Existing System Flaws</a:t>
            </a:r>
          </a:p>
          <a:p>
            <a:pPr>
              <a:spcAft>
                <a:spcPts val="600"/>
              </a:spcAft>
              <a:defRPr sz="1200">
                <a:solidFill>
                  <a:srgbClr val="CBD5E1"/>
                </a:solidFill>
                <a:latin typeface="Segoe UI"/>
              </a:defRPr>
            </a:pPr>
            <a:r>
              <a:t>•  Traditional satellite hydrology has multi-hour or multi-day revisit latency.</a:t>
            </a:r>
          </a:p>
          <a:p>
            <a:pPr>
              <a:spcAft>
                <a:spcPts val="600"/>
              </a:spcAft>
              <a:defRPr sz="1200">
                <a:solidFill>
                  <a:srgbClr val="CBD5E1"/>
                </a:solidFill>
                <a:latin typeface="Segoe UI"/>
              </a:defRPr>
            </a:pPr>
            <a:r>
              <a:t>•  Asphalt roads, shadows, and roof surfaces cause false positives with naive CV classifiers.</a:t>
            </a:r>
          </a:p>
          <a:p>
            <a:pPr>
              <a:spcAft>
                <a:spcPts val="600"/>
              </a:spcAft>
              <a:defRPr sz="1200">
                <a:solidFill>
                  <a:srgbClr val="CBD5E1"/>
                </a:solidFill>
                <a:latin typeface="Segoe UI"/>
              </a:defRPr>
            </a:pPr>
            <a:r>
              <a:t>•  Black-box deep learning models fail to explain WHY an area is flagged as high-risk.</a:t>
            </a:r>
          </a:p>
        </p:txBody>
      </p:sp>
      <p:sp>
        <p:nvSpPr>
          <p:cNvPr id="9" name="Rounded Rectangle 8"/>
          <p:cNvSpPr/>
          <p:nvPr/>
        </p:nvSpPr>
        <p:spPr>
          <a:xfrm>
            <a:off x="8046720" y="1737360"/>
            <a:ext cx="3383280" cy="4572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20240"/>
            <a:ext cx="3017520" cy="4206240"/>
          </a:xfrm>
          <a:prstGeom prst="rect">
            <a:avLst/>
          </a:prstGeom>
          <a:noFill/>
        </p:spPr>
        <p:txBody>
          <a:bodyPr wrap="square">
            <a:spAutoFit/>
          </a:bodyPr>
          <a:lstStyle/>
          <a:p>
            <a:pPr>
              <a:spcAft>
                <a:spcPts val="1000"/>
              </a:spcAft>
              <a:defRPr sz="1600" b="1">
                <a:solidFill>
                  <a:srgbClr val="38BDF8"/>
                </a:solidFill>
                <a:latin typeface="Segoe UI"/>
              </a:defRPr>
            </a:pPr>
            <a:r>
              <a:t>3. The NeerDrishti Solution</a:t>
            </a:r>
          </a:p>
          <a:p>
            <a:pPr>
              <a:spcAft>
                <a:spcPts val="600"/>
              </a:spcAft>
              <a:defRPr sz="1200">
                <a:solidFill>
                  <a:srgbClr val="CBD5E1"/>
                </a:solidFill>
                <a:latin typeface="Segoe UI"/>
              </a:defRPr>
            </a:pPr>
            <a:r>
              <a:t>•  Sub-second local inference: Analyzes map screenshots and drone feeds offline without cloud lock-in.</a:t>
            </a:r>
          </a:p>
          <a:p>
            <a:pPr>
              <a:spcAft>
                <a:spcPts val="600"/>
              </a:spcAft>
              <a:defRPr sz="1200">
                <a:solidFill>
                  <a:srgbClr val="CBD5E1"/>
                </a:solidFill>
                <a:latin typeface="Segoe UI"/>
              </a:defRPr>
            </a:pPr>
            <a:r>
              <a:t>•  Multi-spectrum color fusion (HSV + LAB + Gray) eliminates road/water ambiguity.</a:t>
            </a:r>
          </a:p>
          <a:p>
            <a:pPr>
              <a:spcAft>
                <a:spcPts val="600"/>
              </a:spcAft>
              <a:defRPr sz="1200">
                <a:solidFill>
                  <a:srgbClr val="CBD5E1"/>
                </a:solidFill>
                <a:latin typeface="Segoe UI"/>
              </a:defRPr>
            </a:pPr>
            <a:r>
              <a:t>•  Explainable AI (XAI): Transparent metrics with water density, buffer zones, and confidence scores.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latin typeface="Segoe UI"/>
              </a:defRPr>
            </a:pPr>
            <a:r>
              <a:t>02 • TECHNICAL METHODOLOGY</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Segoe UI"/>
              </a:defRPr>
            </a:pPr>
            <a:r>
              <a:t>System Architecture &amp; Algorithmic Pipeline</a:t>
            </a:r>
          </a:p>
        </p:txBody>
      </p:sp>
      <p:sp>
        <p:nvSpPr>
          <p:cNvPr id="5" name="Rounded Rectangle 4"/>
          <p:cNvSpPr/>
          <p:nvPr/>
        </p:nvSpPr>
        <p:spPr>
          <a:xfrm>
            <a:off x="731520" y="1737360"/>
            <a:ext cx="251460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2148840" cy="4114800"/>
          </a:xfrm>
          <a:prstGeom prst="rect">
            <a:avLst/>
          </a:prstGeom>
          <a:noFill/>
        </p:spPr>
        <p:txBody>
          <a:bodyPr wrap="square">
            <a:spAutoFit/>
          </a:bodyPr>
          <a:lstStyle/>
          <a:p>
            <a:pPr>
              <a:spcAft>
                <a:spcPts val="1000"/>
              </a:spcAft>
              <a:defRPr sz="1600" b="1">
                <a:solidFill>
                  <a:srgbClr val="38BDF8"/>
                </a:solidFill>
                <a:latin typeface="Segoe UI"/>
              </a:defRPr>
            </a:pPr>
            <a:r>
              <a:t>Step 1: Ingestion</a:t>
            </a:r>
          </a:p>
          <a:p>
            <a:pPr>
              <a:spcAft>
                <a:spcPts val="600"/>
              </a:spcAft>
              <a:defRPr sz="1200">
                <a:solidFill>
                  <a:srgbClr val="CBD5E1"/>
                </a:solidFill>
                <a:latin typeface="Segoe UI"/>
              </a:defRPr>
            </a:pPr>
            <a:r>
              <a:t>•  Input: Satellite imagery, aerial drone photos, or live video feeds.</a:t>
            </a:r>
          </a:p>
          <a:p>
            <a:pPr>
              <a:spcAft>
                <a:spcPts val="600"/>
              </a:spcAft>
              <a:defRPr sz="1200">
                <a:solidFill>
                  <a:srgbClr val="CBD5E1"/>
                </a:solidFill>
                <a:latin typeface="Segoe UI"/>
              </a:defRPr>
            </a:pPr>
            <a:r>
              <a:t>•  Preprocessing: OpenCV frame decoding, normalization &amp; multi-spectrum color space conversion (BGR to HSV and CIELAB).</a:t>
            </a:r>
          </a:p>
        </p:txBody>
      </p:sp>
      <p:sp>
        <p:nvSpPr>
          <p:cNvPr id="7" name="Rounded Rectangle 6"/>
          <p:cNvSpPr/>
          <p:nvPr/>
        </p:nvSpPr>
        <p:spPr>
          <a:xfrm>
            <a:off x="3429000" y="1737360"/>
            <a:ext cx="251460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920240"/>
            <a:ext cx="2148840" cy="4114800"/>
          </a:xfrm>
          <a:prstGeom prst="rect">
            <a:avLst/>
          </a:prstGeom>
          <a:noFill/>
        </p:spPr>
        <p:txBody>
          <a:bodyPr wrap="square">
            <a:spAutoFit/>
          </a:bodyPr>
          <a:lstStyle/>
          <a:p>
            <a:pPr>
              <a:spcAft>
                <a:spcPts val="1000"/>
              </a:spcAft>
              <a:defRPr sz="1600" b="1">
                <a:solidFill>
                  <a:srgbClr val="38BDF8"/>
                </a:solidFill>
                <a:latin typeface="Segoe UI"/>
              </a:defRPr>
            </a:pPr>
            <a:r>
              <a:t>Step 2: Detection</a:t>
            </a:r>
          </a:p>
          <a:p>
            <a:pPr>
              <a:spcAft>
                <a:spcPts val="600"/>
              </a:spcAft>
              <a:defRPr sz="1200">
                <a:solidFill>
                  <a:srgbClr val="CBD5E1"/>
                </a:solidFill>
                <a:latin typeface="Segoe UI"/>
              </a:defRPr>
            </a:pPr>
            <a:r>
              <a:t>•  Multi-band thresholding for clear, sediment-heavy, and muddy flood waters.</a:t>
            </a:r>
          </a:p>
          <a:p>
            <a:pPr>
              <a:spcAft>
                <a:spcPts val="600"/>
              </a:spcAft>
              <a:defRPr sz="1200">
                <a:solidFill>
                  <a:srgbClr val="CBD5E1"/>
                </a:solidFill>
                <a:latin typeface="Segoe UI"/>
              </a:defRPr>
            </a:pPr>
            <a:r>
              <a:t>•  Vegetation-aware luminance mask (CIELAB L-channel variance &lt; 20).</a:t>
            </a:r>
          </a:p>
          <a:p>
            <a:pPr>
              <a:spcAft>
                <a:spcPts val="600"/>
              </a:spcAft>
              <a:defRPr sz="1200">
                <a:solidFill>
                  <a:srgbClr val="CBD5E1"/>
                </a:solidFill>
                <a:latin typeface="Segoe UI"/>
              </a:defRPr>
            </a:pPr>
            <a:r>
              <a:t>•  Mixed debris &amp; water signature extraction using Gaussian smoothing.</a:t>
            </a:r>
          </a:p>
        </p:txBody>
      </p:sp>
      <p:sp>
        <p:nvSpPr>
          <p:cNvPr id="9" name="Rounded Rectangle 8"/>
          <p:cNvSpPr/>
          <p:nvPr/>
        </p:nvSpPr>
        <p:spPr>
          <a:xfrm>
            <a:off x="6126480" y="1737360"/>
            <a:ext cx="251460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920240"/>
            <a:ext cx="2148840" cy="4114800"/>
          </a:xfrm>
          <a:prstGeom prst="rect">
            <a:avLst/>
          </a:prstGeom>
          <a:noFill/>
        </p:spPr>
        <p:txBody>
          <a:bodyPr wrap="square">
            <a:spAutoFit/>
          </a:bodyPr>
          <a:lstStyle/>
          <a:p>
            <a:pPr>
              <a:spcAft>
                <a:spcPts val="1000"/>
              </a:spcAft>
              <a:defRPr sz="1600" b="1">
                <a:solidFill>
                  <a:srgbClr val="38BDF8"/>
                </a:solidFill>
                <a:latin typeface="Segoe UI"/>
              </a:defRPr>
            </a:pPr>
            <a:r>
              <a:t>Step 3: Road Filter</a:t>
            </a:r>
          </a:p>
          <a:p>
            <a:pPr>
              <a:spcAft>
                <a:spcPts val="600"/>
              </a:spcAft>
              <a:defRPr sz="1200">
                <a:solidFill>
                  <a:srgbClr val="CBD5E1"/>
                </a:solidFill>
                <a:latin typeface="Segoe UI"/>
              </a:defRPr>
            </a:pPr>
            <a:r>
              <a:t>•  Sobel gradient magnitude check: Water displays low gradient variance (&lt;15), roads have high texture.</a:t>
            </a:r>
          </a:p>
          <a:p>
            <a:pPr>
              <a:spcAft>
                <a:spcPts val="600"/>
              </a:spcAft>
              <a:defRPr sz="1200">
                <a:solidFill>
                  <a:srgbClr val="CBD5E1"/>
                </a:solidFill>
                <a:latin typeface="Segoe UI"/>
              </a:defRPr>
            </a:pPr>
            <a:r>
              <a:t>•  Contour aspect ratio filtering: Discards elongated linear road strips (aspect ratio &gt; 12).</a:t>
            </a:r>
          </a:p>
          <a:p>
            <a:pPr>
              <a:spcAft>
                <a:spcPts val="600"/>
              </a:spcAft>
              <a:defRPr sz="1200">
                <a:solidFill>
                  <a:srgbClr val="CBD5E1"/>
                </a:solidFill>
                <a:latin typeface="Segoe UI"/>
              </a:defRPr>
            </a:pPr>
            <a:r>
              <a:t>•  Morphological opening/closing.</a:t>
            </a:r>
          </a:p>
        </p:txBody>
      </p:sp>
      <p:sp>
        <p:nvSpPr>
          <p:cNvPr id="11" name="Rounded Rectangle 10"/>
          <p:cNvSpPr/>
          <p:nvPr/>
        </p:nvSpPr>
        <p:spPr>
          <a:xfrm>
            <a:off x="8823960" y="1737360"/>
            <a:ext cx="2514600" cy="4480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1920240"/>
            <a:ext cx="2148840" cy="4114800"/>
          </a:xfrm>
          <a:prstGeom prst="rect">
            <a:avLst/>
          </a:prstGeom>
          <a:noFill/>
        </p:spPr>
        <p:txBody>
          <a:bodyPr wrap="square">
            <a:spAutoFit/>
          </a:bodyPr>
          <a:lstStyle/>
          <a:p>
            <a:pPr>
              <a:spcAft>
                <a:spcPts val="1000"/>
              </a:spcAft>
              <a:defRPr sz="1600" b="1">
                <a:solidFill>
                  <a:srgbClr val="38BDF8"/>
                </a:solidFill>
                <a:latin typeface="Segoe UI"/>
              </a:defRPr>
            </a:pPr>
            <a:r>
              <a:t>Step 4: Heatmap</a:t>
            </a:r>
          </a:p>
          <a:p>
            <a:pPr>
              <a:spcAft>
                <a:spcPts val="600"/>
              </a:spcAft>
              <a:defRPr sz="1200">
                <a:solidFill>
                  <a:srgbClr val="CBD5E1"/>
                </a:solidFill>
                <a:latin typeface="Segoe UI"/>
              </a:defRPr>
            </a:pPr>
            <a:r>
              <a:t>•  Zone A: Core Water Bodies (morphological closing).</a:t>
            </a:r>
          </a:p>
          <a:p>
            <a:pPr>
              <a:spcAft>
                <a:spcPts val="600"/>
              </a:spcAft>
              <a:defRPr sz="1200">
                <a:solidFill>
                  <a:srgbClr val="CBD5E1"/>
                </a:solidFill>
                <a:latin typeface="Segoe UI"/>
              </a:defRPr>
            </a:pPr>
            <a:r>
              <a:t>•  Zone B: Buffer Risk Zone (dilation buffer).</a:t>
            </a:r>
          </a:p>
          <a:p>
            <a:pPr>
              <a:spcAft>
                <a:spcPts val="600"/>
              </a:spcAft>
              <a:defRPr sz="1200">
                <a:solidFill>
                  <a:srgbClr val="CBD5E1"/>
                </a:solidFill>
                <a:latin typeface="Segoe UI"/>
              </a:defRPr>
            </a:pPr>
            <a:r>
              <a:t>•  Zone C: Low-Risk Moisture spread.</a:t>
            </a:r>
          </a:p>
          <a:p>
            <a:pPr>
              <a:spcAft>
                <a:spcPts val="600"/>
              </a:spcAft>
              <a:defRPr sz="1200">
                <a:solidFill>
                  <a:srgbClr val="CBD5E1"/>
                </a:solidFill>
                <a:latin typeface="Segoe UI"/>
              </a:defRPr>
            </a:pPr>
            <a:r>
              <a:t>•  Multi-scale Gaussian convolutions (scales 5, 10, 20, 30) for smooth risk heatmaps.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latin typeface="Segoe UI"/>
              </a:defRPr>
            </a:pPr>
            <a:r>
              <a:t>03 • ENGINEERING SPECIFICATIONS</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Segoe UI"/>
              </a:defRPr>
            </a:pPr>
            <a:r>
              <a:t>Technology Stack &amp; Core Implementation</a:t>
            </a:r>
          </a:p>
        </p:txBody>
      </p:sp>
      <p:sp>
        <p:nvSpPr>
          <p:cNvPr id="5" name="Rounded Rectangle 4"/>
          <p:cNvSpPr/>
          <p:nvPr/>
        </p:nvSpPr>
        <p:spPr>
          <a:xfrm>
            <a:off x="731520" y="1737360"/>
            <a:ext cx="5120640" cy="21488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1783080"/>
          </a:xfrm>
          <a:prstGeom prst="rect">
            <a:avLst/>
          </a:prstGeom>
          <a:noFill/>
        </p:spPr>
        <p:txBody>
          <a:bodyPr wrap="square">
            <a:spAutoFit/>
          </a:bodyPr>
          <a:lstStyle/>
          <a:p>
            <a:pPr>
              <a:spcAft>
                <a:spcPts val="1000"/>
              </a:spcAft>
              <a:defRPr sz="1600" b="1">
                <a:solidFill>
                  <a:srgbClr val="38BDF8"/>
                </a:solidFill>
                <a:latin typeface="Segoe UI"/>
              </a:defRPr>
            </a:pPr>
            <a:r>
              <a:t>Backend Engine &amp; APIs</a:t>
            </a:r>
          </a:p>
          <a:p>
            <a:pPr>
              <a:spcAft>
                <a:spcPts val="600"/>
              </a:spcAft>
              <a:defRPr sz="1200">
                <a:solidFill>
                  <a:srgbClr val="CBD5E1"/>
                </a:solidFill>
                <a:latin typeface="Segoe UI"/>
              </a:defRPr>
            </a:pPr>
            <a:r>
              <a:t>•  FastAPI: Asynchronous high-throughput REST API with automatic JSON validation.</a:t>
            </a:r>
          </a:p>
          <a:p>
            <a:pPr>
              <a:spcAft>
                <a:spcPts val="600"/>
              </a:spcAft>
              <a:defRPr sz="1200">
                <a:solidFill>
                  <a:srgbClr val="CBD5E1"/>
                </a:solidFill>
                <a:latin typeface="Segoe UI"/>
              </a:defRPr>
            </a:pPr>
            <a:r>
              <a:t>•  Uvicorn: ASGI server handling concurrent image &amp; video stream requests.</a:t>
            </a:r>
          </a:p>
          <a:p>
            <a:pPr>
              <a:spcAft>
                <a:spcPts val="600"/>
              </a:spcAft>
              <a:defRPr sz="1200">
                <a:solidFill>
                  <a:srgbClr val="CBD5E1"/>
                </a:solidFill>
                <a:latin typeface="Segoe UI"/>
              </a:defRPr>
            </a:pPr>
            <a:r>
              <a:t>•  PyTorch &amp; Torchvision: Auto-detecting CUDA GPU hardware with CPU fallback.</a:t>
            </a:r>
          </a:p>
          <a:p>
            <a:pPr>
              <a:spcAft>
                <a:spcPts val="600"/>
              </a:spcAft>
              <a:defRPr sz="1200">
                <a:solidFill>
                  <a:srgbClr val="CBD5E1"/>
                </a:solidFill>
                <a:latin typeface="Segoe UI"/>
              </a:defRPr>
            </a:pPr>
            <a:r>
              <a:t>•  ImageIO-FFmpeg: Transcodes video outputs to H.264 (yuv420p) for universal browser streaming.</a:t>
            </a:r>
          </a:p>
        </p:txBody>
      </p:sp>
      <p:sp>
        <p:nvSpPr>
          <p:cNvPr id="7" name="Rounded Rectangle 6"/>
          <p:cNvSpPr/>
          <p:nvPr/>
        </p:nvSpPr>
        <p:spPr>
          <a:xfrm>
            <a:off x="731520" y="4114800"/>
            <a:ext cx="5120640"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97680"/>
            <a:ext cx="4754880" cy="1828800"/>
          </a:xfrm>
          <a:prstGeom prst="rect">
            <a:avLst/>
          </a:prstGeom>
          <a:noFill/>
        </p:spPr>
        <p:txBody>
          <a:bodyPr wrap="square">
            <a:spAutoFit/>
          </a:bodyPr>
          <a:lstStyle/>
          <a:p>
            <a:pPr>
              <a:spcAft>
                <a:spcPts val="1000"/>
              </a:spcAft>
              <a:defRPr sz="1600" b="1">
                <a:solidFill>
                  <a:srgbClr val="38BDF8"/>
                </a:solidFill>
                <a:latin typeface="Segoe UI"/>
              </a:defRPr>
            </a:pPr>
            <a:r>
              <a:t>Frontend &amp; Cartographic GIS</a:t>
            </a:r>
          </a:p>
          <a:p>
            <a:pPr>
              <a:spcAft>
                <a:spcPts val="600"/>
              </a:spcAft>
              <a:defRPr sz="1200">
                <a:solidFill>
                  <a:srgbClr val="CBD5E1"/>
                </a:solidFill>
                <a:latin typeface="Segoe UI"/>
              </a:defRPr>
            </a:pPr>
            <a:r>
              <a:t>•  Interactive Leaflet.js GIS: Real-time map rendering with coordinate analysis.</a:t>
            </a:r>
          </a:p>
          <a:p>
            <a:pPr>
              <a:spcAft>
                <a:spcPts val="600"/>
              </a:spcAft>
              <a:defRPr sz="1200">
                <a:solidFill>
                  <a:srgbClr val="CBD5E1"/>
                </a:solidFill>
                <a:latin typeface="Segoe UI"/>
              </a:defRPr>
            </a:pPr>
            <a:r>
              <a:t>•  Multi-Basemap Switching: Esri Dark Canvas, Esri World Satellite, and OpenStreetMap.</a:t>
            </a:r>
          </a:p>
          <a:p>
            <a:pPr>
              <a:spcAft>
                <a:spcPts val="600"/>
              </a:spcAft>
              <a:defRPr sz="1200">
                <a:solidFill>
                  <a:srgbClr val="CBD5E1"/>
                </a:solidFill>
                <a:latin typeface="Segoe UI"/>
              </a:defRPr>
            </a:pPr>
            <a:r>
              <a:t>•  Modern Glassmorphism UI: Native HTML5/CSS3/ES6 responsive dashboard.</a:t>
            </a:r>
          </a:p>
          <a:p>
            <a:pPr>
              <a:spcAft>
                <a:spcPts val="600"/>
              </a:spcAft>
              <a:defRPr sz="1200">
                <a:solidFill>
                  <a:srgbClr val="CBD5E1"/>
                </a:solidFill>
                <a:latin typeface="Segoe UI"/>
              </a:defRPr>
            </a:pPr>
            <a:r>
              <a:t>•  Offline-Safe Architecture: Gracefully operates offline without crashing if external CDNs are unavailable.</a:t>
            </a:r>
          </a:p>
        </p:txBody>
      </p:sp>
      <p:sp>
        <p:nvSpPr>
          <p:cNvPr id="9" name="Rounded Rectangle 8"/>
          <p:cNvSpPr/>
          <p:nvPr/>
        </p:nvSpPr>
        <p:spPr>
          <a:xfrm>
            <a:off x="6217920" y="1737360"/>
            <a:ext cx="5212080" cy="4572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4206240"/>
          </a:xfrm>
          <a:prstGeom prst="rect">
            <a:avLst/>
          </a:prstGeom>
          <a:noFill/>
        </p:spPr>
        <p:txBody>
          <a:bodyPr wrap="square">
            <a:spAutoFit/>
          </a:bodyPr>
          <a:lstStyle/>
          <a:p>
            <a:pPr>
              <a:spcAft>
                <a:spcPts val="1000"/>
              </a:spcAft>
              <a:defRPr sz="1600" b="1">
                <a:solidFill>
                  <a:srgbClr val="38BDF8"/>
                </a:solidFill>
                <a:latin typeface="Segoe UI"/>
              </a:defRPr>
            </a:pPr>
            <a:r>
              <a:t>Classification Risk Matrix</a:t>
            </a:r>
          </a:p>
          <a:p>
            <a:pPr>
              <a:spcAft>
                <a:spcPts val="600"/>
              </a:spcAft>
              <a:defRPr sz="1200">
                <a:solidFill>
                  <a:srgbClr val="CBD5E1"/>
                </a:solidFill>
                <a:latin typeface="Segoe UI"/>
              </a:defRPr>
            </a:pPr>
            <a:r>
              <a:t>•  &lt; 3% Water Coverage: MINIMAL RISK (Normal seasonal basin)</a:t>
            </a:r>
          </a:p>
          <a:p>
            <a:pPr>
              <a:spcAft>
                <a:spcPts val="600"/>
              </a:spcAft>
              <a:defRPr sz="1200">
                <a:solidFill>
                  <a:srgbClr val="CBD5E1"/>
                </a:solidFill>
                <a:latin typeface="Segoe UI"/>
              </a:defRPr>
            </a:pPr>
            <a:r>
              <a:t>•  3% – 8% Coverage: LOW RISK (Minor shoreline expansion)</a:t>
            </a:r>
          </a:p>
          <a:p>
            <a:pPr>
              <a:spcAft>
                <a:spcPts val="600"/>
              </a:spcAft>
              <a:defRPr sz="1200">
                <a:solidFill>
                  <a:srgbClr val="CBD5E1"/>
                </a:solidFill>
                <a:latin typeface="Segoe UI"/>
              </a:defRPr>
            </a:pPr>
            <a:r>
              <a:t>•  8% – 15% Coverage: GUARDED (Noticeable water spread)</a:t>
            </a:r>
          </a:p>
          <a:p>
            <a:pPr>
              <a:spcAft>
                <a:spcPts val="600"/>
              </a:spcAft>
              <a:defRPr sz="1200">
                <a:solidFill>
                  <a:srgbClr val="CBD5E1"/>
                </a:solidFill>
                <a:latin typeface="Segoe UI"/>
              </a:defRPr>
            </a:pPr>
            <a:r>
              <a:t>•  15% – 25% Coverage: ELEVATED (Water approaching inhabited zones)</a:t>
            </a:r>
          </a:p>
          <a:p>
            <a:pPr>
              <a:spcAft>
                <a:spcPts val="600"/>
              </a:spcAft>
              <a:defRPr sz="1200">
                <a:solidFill>
                  <a:srgbClr val="CBD5E1"/>
                </a:solidFill>
                <a:latin typeface="Segoe UI"/>
              </a:defRPr>
            </a:pPr>
            <a:r>
              <a:t>•  25% – 35% Coverage: SEVERE (Widespread flood inundation)</a:t>
            </a:r>
          </a:p>
          <a:p>
            <a:pPr>
              <a:spcAft>
                <a:spcPts val="600"/>
              </a:spcAft>
              <a:defRPr sz="1200">
                <a:solidFill>
                  <a:srgbClr val="CBD5E1"/>
                </a:solidFill>
                <a:latin typeface="Segoe UI"/>
              </a:defRPr>
            </a:pPr>
            <a:r>
              <a:t>•  &gt; 35% Coverage: EXTREME (Catastrophic water submergence)</a:t>
            </a:r>
          </a:p>
          <a:p>
            <a:pPr>
              <a:spcAft>
                <a:spcPts val="600"/>
              </a:spcAft>
              <a:defRPr sz="1200">
                <a:solidFill>
                  <a:srgbClr val="CBD5E1"/>
                </a:solidFill>
                <a:latin typeface="Segoe UI"/>
              </a:defRPr>
            </a:pPr>
            <a:r>
              <a:t>•  </a:t>
            </a:r>
          </a:p>
          <a:p>
            <a:pPr>
              <a:spcAft>
                <a:spcPts val="600"/>
              </a:spcAft>
              <a:defRPr sz="1200">
                <a:solidFill>
                  <a:srgbClr val="CBD5E1"/>
                </a:solidFill>
                <a:latin typeface="Segoe UI"/>
              </a:defRPr>
            </a:pPr>
            <a:r>
              <a:t>•  Automated Water Body Geometry Classifier:</a:t>
            </a:r>
          </a:p>
          <a:p>
            <a:pPr>
              <a:spcAft>
                <a:spcPts val="600"/>
              </a:spcAft>
              <a:defRPr sz="1200">
                <a:solidFill>
                  <a:srgbClr val="CBD5E1"/>
                </a:solidFill>
                <a:latin typeface="Segoe UI"/>
              </a:defRPr>
            </a:pPr>
            <a:r>
              <a:t>•  • Circularity &gt; 0.6 &amp; inland = Lake</a:t>
            </a:r>
          </a:p>
          <a:p>
            <a:pPr>
              <a:spcAft>
                <a:spcPts val="600"/>
              </a:spcAft>
              <a:defRPr sz="1200">
                <a:solidFill>
                  <a:srgbClr val="CBD5E1"/>
                </a:solidFill>
                <a:latin typeface="Segoe UI"/>
              </a:defRPr>
            </a:pPr>
            <a:r>
              <a:t>•  • Aspect ratio &gt; 4 &amp; inland = River basin</a:t>
            </a:r>
          </a:p>
          <a:p>
            <a:pPr>
              <a:spcAft>
                <a:spcPts val="600"/>
              </a:spcAft>
              <a:defRPr sz="1200">
                <a:solidFill>
                  <a:srgbClr val="CBD5E1"/>
                </a:solidFill>
                <a:latin typeface="Segoe UI"/>
              </a:defRPr>
            </a:pPr>
            <a:r>
              <a:t>•  • Edge boundary contact ratio &gt; 0.1 = Coastal / Ocean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latin typeface="Segoe UI"/>
              </a:defRPr>
            </a:pPr>
            <a:r>
              <a:t>04 • RESULTS &amp; EVALUATION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Segoe UI"/>
              </a:defRPr>
            </a:pPr>
            <a:r>
              <a:t>Visual Results &amp; Explainable AI (XAI) Output</a:t>
            </a:r>
          </a:p>
        </p:txBody>
      </p:sp>
      <p:sp>
        <p:nvSpPr>
          <p:cNvPr id="5" name="Rounded Rectangle 4"/>
          <p:cNvSpPr/>
          <p:nvPr/>
        </p:nvSpPr>
        <p:spPr>
          <a:xfrm>
            <a:off x="731520" y="1737360"/>
            <a:ext cx="5486400" cy="4572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utput_1792079612.png"/>
          <p:cNvPicPr>
            <a:picLocks noChangeAspect="1"/>
          </p:cNvPicPr>
          <p:nvPr/>
        </p:nvPicPr>
        <p:blipFill>
          <a:blip r:embed="rId2"/>
          <a:stretch>
            <a:fillRect/>
          </a:stretch>
        </p:blipFill>
        <p:spPr>
          <a:xfrm>
            <a:off x="914400" y="2011680"/>
            <a:ext cx="5120640" cy="4023360"/>
          </a:xfrm>
          <a:prstGeom prst="rect">
            <a:avLst/>
          </a:prstGeom>
        </p:spPr>
      </p:pic>
      <p:sp>
        <p:nvSpPr>
          <p:cNvPr id="7" name="Rounded Rectangle 6"/>
          <p:cNvSpPr/>
          <p:nvPr/>
        </p:nvSpPr>
        <p:spPr>
          <a:xfrm>
            <a:off x="6492240" y="1737360"/>
            <a:ext cx="4937760" cy="4572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920240"/>
            <a:ext cx="4572000" cy="4206240"/>
          </a:xfrm>
          <a:prstGeom prst="rect">
            <a:avLst/>
          </a:prstGeom>
          <a:noFill/>
        </p:spPr>
        <p:txBody>
          <a:bodyPr wrap="square">
            <a:spAutoFit/>
          </a:bodyPr>
          <a:lstStyle/>
          <a:p>
            <a:pPr>
              <a:spcAft>
                <a:spcPts val="1000"/>
              </a:spcAft>
              <a:defRPr sz="1600" b="1">
                <a:solidFill>
                  <a:srgbClr val="38BDF8"/>
                </a:solidFill>
                <a:latin typeface="Segoe UI"/>
              </a:defRPr>
            </a:pPr>
            <a:r>
              <a:t>Real-Time Explainability Dashboard</a:t>
            </a:r>
          </a:p>
          <a:p>
            <a:pPr>
              <a:spcAft>
                <a:spcPts val="600"/>
              </a:spcAft>
              <a:defRPr sz="1200">
                <a:solidFill>
                  <a:srgbClr val="CBD5E1"/>
                </a:solidFill>
                <a:latin typeface="Segoe UI"/>
              </a:defRPr>
            </a:pPr>
            <a:r>
              <a:t>•  Transparent Decision Breakdown:</a:t>
            </a:r>
          </a:p>
          <a:p>
            <a:pPr>
              <a:spcAft>
                <a:spcPts val="600"/>
              </a:spcAft>
              <a:defRPr sz="1200">
                <a:solidFill>
                  <a:srgbClr val="CBD5E1"/>
                </a:solidFill>
                <a:latin typeface="Segoe UI"/>
              </a:defRPr>
            </a:pPr>
            <a:r>
              <a:t>•  • Total Detected Water Coverage: Precise percentage</a:t>
            </a:r>
          </a:p>
          <a:p>
            <a:pPr>
              <a:spcAft>
                <a:spcPts val="600"/>
              </a:spcAft>
              <a:defRPr sz="1200">
                <a:solidFill>
                  <a:srgbClr val="CBD5E1"/>
                </a:solidFill>
                <a:latin typeface="Segoe UI"/>
              </a:defRPr>
            </a:pPr>
            <a:r>
              <a:t>•  • Zone A (Core Bodies): High-risk water mass</a:t>
            </a:r>
          </a:p>
          <a:p>
            <a:pPr>
              <a:spcAft>
                <a:spcPts val="600"/>
              </a:spcAft>
              <a:defRPr sz="1200">
                <a:solidFill>
                  <a:srgbClr val="CBD5E1"/>
                </a:solidFill>
                <a:latin typeface="Segoe UI"/>
              </a:defRPr>
            </a:pPr>
            <a:r>
              <a:t>•  • Zone B (Buffer): Saturated adjacent perimeter</a:t>
            </a:r>
          </a:p>
          <a:p>
            <a:pPr>
              <a:spcAft>
                <a:spcPts val="600"/>
              </a:spcAft>
              <a:defRPr sz="1200">
                <a:solidFill>
                  <a:srgbClr val="CBD5E1"/>
                </a:solidFill>
                <a:latin typeface="Segoe UI"/>
              </a:defRPr>
            </a:pPr>
            <a:r>
              <a:t>•  • Zone C (Moisture): Peripheral spread &amp; soil saturation</a:t>
            </a:r>
          </a:p>
          <a:p>
            <a:pPr>
              <a:spcAft>
                <a:spcPts val="600"/>
              </a:spcAft>
              <a:defRPr sz="1200">
                <a:solidFill>
                  <a:srgbClr val="CBD5E1"/>
                </a:solidFill>
                <a:latin typeface="Segoe UI"/>
              </a:defRPr>
            </a:pPr>
            <a:r>
              <a:t>•  • Edge Confidence Score: Derived from Canny perimeter validation</a:t>
            </a:r>
          </a:p>
          <a:p>
            <a:pPr>
              <a:spcAft>
                <a:spcPts val="600"/>
              </a:spcAft>
              <a:defRPr sz="1200">
                <a:solidFill>
                  <a:srgbClr val="CBD5E1"/>
                </a:solidFill>
                <a:latin typeface="Segoe UI"/>
              </a:defRPr>
            </a:pPr>
            <a:r>
              <a:t>•  • Road False Positives Suppressed: Verified via gradient filter</a:t>
            </a:r>
          </a:p>
          <a:p>
            <a:pPr>
              <a:spcAft>
                <a:spcPts val="600"/>
              </a:spcAft>
              <a:defRPr sz="1200">
                <a:solidFill>
                  <a:srgbClr val="CBD5E1"/>
                </a:solidFill>
                <a:latin typeface="Segoe UI"/>
              </a:defRPr>
            </a:pPr>
            <a:r>
              <a:t>•  </a:t>
            </a:r>
          </a:p>
          <a:p>
            <a:pPr>
              <a:spcAft>
                <a:spcPts val="600"/>
              </a:spcAft>
              <a:defRPr sz="1200">
                <a:solidFill>
                  <a:srgbClr val="CBD5E1"/>
                </a:solidFill>
                <a:latin typeface="Segoe UI"/>
              </a:defRPr>
            </a:pPr>
            <a:r>
              <a:t>•  Key Scientific Benefit:</a:t>
            </a:r>
          </a:p>
          <a:p>
            <a:pPr>
              <a:spcAft>
                <a:spcPts val="600"/>
              </a:spcAft>
              <a:defRPr sz="1200">
                <a:solidFill>
                  <a:srgbClr val="CBD5E1"/>
                </a:solidFill>
                <a:latin typeface="Segoe UI"/>
              </a:defRPr>
            </a:pPr>
            <a:r>
              <a:t>•  Relief teams are never presented with an unexplained danger score. Every prediction is accompanied by an audit trail of detected zones, moisture gradients, and water body classifications.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latin typeface="Segoe UI"/>
              </a:defRPr>
            </a:pPr>
            <a:r>
              <a:t>05 • SUMMARY &amp; VISION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latin typeface="Segoe UI"/>
              </a:defRPr>
            </a:pPr>
            <a:r>
              <a:t>Conclusion, Future Work &amp; Impact</a:t>
            </a:r>
          </a:p>
        </p:txBody>
      </p:sp>
      <p:sp>
        <p:nvSpPr>
          <p:cNvPr id="5" name="Rounded Rectangle 4"/>
          <p:cNvSpPr/>
          <p:nvPr/>
        </p:nvSpPr>
        <p:spPr>
          <a:xfrm>
            <a:off x="731520" y="1737360"/>
            <a:ext cx="3383280" cy="4572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3017520" cy="4206240"/>
          </a:xfrm>
          <a:prstGeom prst="rect">
            <a:avLst/>
          </a:prstGeom>
          <a:noFill/>
        </p:spPr>
        <p:txBody>
          <a:bodyPr wrap="square">
            <a:spAutoFit/>
          </a:bodyPr>
          <a:lstStyle/>
          <a:p>
            <a:pPr>
              <a:spcAft>
                <a:spcPts val="1000"/>
              </a:spcAft>
              <a:defRPr sz="1600" b="1">
                <a:solidFill>
                  <a:srgbClr val="38BDF8"/>
                </a:solidFill>
                <a:latin typeface="Segoe UI"/>
              </a:defRPr>
            </a:pPr>
            <a:r>
              <a:t>Key Achievements</a:t>
            </a:r>
          </a:p>
          <a:p>
            <a:pPr>
              <a:spcAft>
                <a:spcPts val="600"/>
              </a:spcAft>
              <a:defRPr sz="1200">
                <a:solidFill>
                  <a:srgbClr val="CBD5E1"/>
                </a:solidFill>
                <a:latin typeface="Segoe UI"/>
              </a:defRPr>
            </a:pPr>
            <a:r>
              <a:t>•  End-to-End Functional System: Complete pipeline from upload to visual heatmap.</a:t>
            </a:r>
          </a:p>
          <a:p>
            <a:pPr>
              <a:spcAft>
                <a:spcPts val="600"/>
              </a:spcAft>
              <a:defRPr sz="1200">
                <a:solidFill>
                  <a:srgbClr val="CBD5E1"/>
                </a:solidFill>
                <a:latin typeface="Segoe UI"/>
              </a:defRPr>
            </a:pPr>
            <a:r>
              <a:t>•  Zero Cloud Dependency: Fully capable of running on local laptops or edge hardware in field stations.</a:t>
            </a:r>
          </a:p>
          <a:p>
            <a:pPr>
              <a:spcAft>
                <a:spcPts val="600"/>
              </a:spcAft>
              <a:defRPr sz="1200">
                <a:solidFill>
                  <a:srgbClr val="CBD5E1"/>
                </a:solidFill>
                <a:latin typeface="Segoe UI"/>
              </a:defRPr>
            </a:pPr>
            <a:r>
              <a:t>•  High Accuracy: Eliminates road and shadow false positives through gradient texture fusion.</a:t>
            </a:r>
          </a:p>
          <a:p>
            <a:pPr>
              <a:spcAft>
                <a:spcPts val="600"/>
              </a:spcAft>
              <a:defRPr sz="1200">
                <a:solidFill>
                  <a:srgbClr val="CBD5E1"/>
                </a:solidFill>
                <a:latin typeface="Segoe UI"/>
              </a:defRPr>
            </a:pPr>
            <a:r>
              <a:t>•  Sub-second Execution: Fast enough for aerial drone video streams.</a:t>
            </a:r>
          </a:p>
        </p:txBody>
      </p:sp>
      <p:sp>
        <p:nvSpPr>
          <p:cNvPr id="7" name="Rounded Rectangle 6"/>
          <p:cNvSpPr/>
          <p:nvPr/>
        </p:nvSpPr>
        <p:spPr>
          <a:xfrm>
            <a:off x="4389120" y="1737360"/>
            <a:ext cx="3383280" cy="4572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20240"/>
            <a:ext cx="3017520" cy="4206240"/>
          </a:xfrm>
          <a:prstGeom prst="rect">
            <a:avLst/>
          </a:prstGeom>
          <a:noFill/>
        </p:spPr>
        <p:txBody>
          <a:bodyPr wrap="square">
            <a:spAutoFit/>
          </a:bodyPr>
          <a:lstStyle/>
          <a:p>
            <a:pPr>
              <a:spcAft>
                <a:spcPts val="1000"/>
              </a:spcAft>
              <a:defRPr sz="1600" b="1">
                <a:solidFill>
                  <a:srgbClr val="38BDF8"/>
                </a:solidFill>
                <a:latin typeface="Segoe UI"/>
              </a:defRPr>
            </a:pPr>
            <a:r>
              <a:t>Future Enhancements</a:t>
            </a:r>
          </a:p>
          <a:p>
            <a:pPr>
              <a:spcAft>
                <a:spcPts val="600"/>
              </a:spcAft>
              <a:defRPr sz="1200">
                <a:solidFill>
                  <a:srgbClr val="CBD5E1"/>
                </a:solidFill>
                <a:latin typeface="Segoe UI"/>
              </a:defRPr>
            </a:pPr>
            <a:r>
              <a:t>•  Live Satellite API Ingestion: Direct integration with Sentinel-2 / Landsat-9 multispectral feeds.</a:t>
            </a:r>
          </a:p>
          <a:p>
            <a:pPr>
              <a:spcAft>
                <a:spcPts val="600"/>
              </a:spcAft>
              <a:defRPr sz="1200">
                <a:solidFill>
                  <a:srgbClr val="CBD5E1"/>
                </a:solidFill>
                <a:latin typeface="Segoe UI"/>
              </a:defRPr>
            </a:pPr>
            <a:r>
              <a:t>•  Synthetic Aperture Radar (SAR): Penetrate dense storm cloud covers during live cyclones.</a:t>
            </a:r>
          </a:p>
          <a:p>
            <a:pPr>
              <a:spcAft>
                <a:spcPts val="600"/>
              </a:spcAft>
              <a:defRPr sz="1200">
                <a:solidFill>
                  <a:srgbClr val="CBD5E1"/>
                </a:solidFill>
                <a:latin typeface="Segoe UI"/>
              </a:defRPr>
            </a:pPr>
            <a:r>
              <a:t>•  IoT Telemetry Fusion: Ingest live ultrasonic river-gauge water level sensors.</a:t>
            </a:r>
          </a:p>
          <a:p>
            <a:pPr>
              <a:spcAft>
                <a:spcPts val="600"/>
              </a:spcAft>
              <a:defRPr sz="1200">
                <a:solidFill>
                  <a:srgbClr val="CBD5E1"/>
                </a:solidFill>
                <a:latin typeface="Segoe UI"/>
              </a:defRPr>
            </a:pPr>
            <a:r>
              <a:t>•  Mobile PWA: Offline smartphone app for NDRF / SDRF field officers.</a:t>
            </a:r>
          </a:p>
        </p:txBody>
      </p:sp>
      <p:sp>
        <p:nvSpPr>
          <p:cNvPr id="9" name="Rounded Rectangle 8"/>
          <p:cNvSpPr/>
          <p:nvPr/>
        </p:nvSpPr>
        <p:spPr>
          <a:xfrm>
            <a:off x="8046720" y="1737360"/>
            <a:ext cx="3383280" cy="457200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286000"/>
            <a:ext cx="3017520" cy="3474720"/>
          </a:xfrm>
          <a:prstGeom prst="rect">
            <a:avLst/>
          </a:prstGeom>
          <a:noFill/>
        </p:spPr>
        <p:txBody>
          <a:bodyPr wrap="square">
            <a:spAutoFit/>
          </a:bodyPr>
          <a:lstStyle/>
          <a:p>
            <a:pPr algn="ctr">
              <a:spcAft>
                <a:spcPts val="1600"/>
              </a:spcAft>
              <a:defRPr sz="2800" b="1">
                <a:solidFill>
                  <a:srgbClr val="38BDF8"/>
                </a:solidFill>
                <a:latin typeface="Segoe UI"/>
              </a:defRPr>
            </a:pPr>
            <a:r>
              <a:t>Thank You!</a:t>
            </a:r>
          </a:p>
          <a:p>
            <a:pPr algn="ctr">
              <a:spcAft>
                <a:spcPts val="2000"/>
              </a:spcAft>
              <a:defRPr sz="1600" b="1">
                <a:solidFill>
                  <a:srgbClr val="F8FAFC"/>
                </a:solidFill>
                <a:latin typeface="Segoe UI"/>
              </a:defRPr>
            </a:pPr>
            <a:r>
              <a:t>Questions &amp; Faculty Feedback</a:t>
            </a:r>
          </a:p>
          <a:p>
            <a:pPr algn="ctr">
              <a:defRPr sz="1200" i="1">
                <a:solidFill>
                  <a:srgbClr val="94A3B8"/>
                </a:solidFill>
                <a:latin typeface="Segoe UI"/>
              </a:defRPr>
            </a:pPr>
            <a:r>
              <a:t>"Technology that empowers disaster response through speed and explainability."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